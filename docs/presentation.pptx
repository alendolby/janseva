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436efd2b6240f9" /><Relationship Type="http://schemas.openxmlformats.org/officeDocument/2006/relationships/extended-properties" Target="/docProps/app.xml" Id="Rf00aa947cc9b481a" /><Relationship Type="http://schemas.openxmlformats.org/officeDocument/2006/relationships/officeDocument" Target="/ppt/presentation.xml" Id="Rbfab91999b0643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fe3c3643af42ce"/>
  </p:sldMasterIdLst>
  <p:notesMasterIdLst>
    <p:notesMasterId xmlns:r="http://schemas.openxmlformats.org/officeDocument/2006/relationships" r:id="R6c4961466458455a"/>
  </p:notesMasterIdLst>
  <p:sldIdLst>
    <p:sldId xmlns:r="http://schemas.openxmlformats.org/officeDocument/2006/relationships" id="256" r:id="Rc7f70999804f4a6c"/>
    <p:sldId xmlns:r="http://schemas.openxmlformats.org/officeDocument/2006/relationships" id="257" r:id="R43722db321d04402"/>
    <p:sldId xmlns:r="http://schemas.openxmlformats.org/officeDocument/2006/relationships" id="258" r:id="R317e2997ded14a7a"/>
    <p:sldId xmlns:r="http://schemas.openxmlformats.org/officeDocument/2006/relationships" id="259" r:id="R3fa11d5768de40d6"/>
    <p:sldId xmlns:r="http://schemas.openxmlformats.org/officeDocument/2006/relationships" id="260" r:id="R953efca9602f4489"/>
    <p:sldId xmlns:r="http://schemas.openxmlformats.org/officeDocument/2006/relationships" id="261" r:id="R1b7a434892bb4830"/>
    <p:sldId xmlns:r="http://schemas.openxmlformats.org/officeDocument/2006/relationships" id="262" r:id="Rd1117eae1e3545d0"/>
    <p:sldId xmlns:r="http://schemas.openxmlformats.org/officeDocument/2006/relationships" id="263" r:id="R618a8f87bf524ff4"/>
    <p:sldId xmlns:r="http://schemas.openxmlformats.org/officeDocument/2006/relationships" id="264" r:id="Rfcd180e837974f97"/>
    <p:sldId xmlns:r="http://schemas.openxmlformats.org/officeDocument/2006/relationships" id="265" r:id="R601211c1e1cd490c"/>
    <p:sldId xmlns:r="http://schemas.openxmlformats.org/officeDocument/2006/relationships" id="266" r:id="R2f3f5d2d321f47c9"/>
    <p:sldId xmlns:r="http://schemas.openxmlformats.org/officeDocument/2006/relationships" id="267" r:id="Re0f3928bc7c54e6d"/>
    <p:sldId xmlns:r="http://schemas.openxmlformats.org/officeDocument/2006/relationships" id="268" r:id="Rde332b3d93274da9"/>
    <p:sldId xmlns:r="http://schemas.openxmlformats.org/officeDocument/2006/relationships" id="269" r:id="R475f536ed7fb4647"/>
    <p:sldId xmlns:r="http://schemas.openxmlformats.org/officeDocument/2006/relationships" id="270" r:id="R383d7799c058426b"/>
    <p:sldId xmlns:r="http://schemas.openxmlformats.org/officeDocument/2006/relationships" id="271" r:id="Rd03b14ea632645ed"/>
    <p:sldId xmlns:r="http://schemas.openxmlformats.org/officeDocument/2006/relationships" id="272" r:id="Rcc3daed254e34825"/>
    <p:sldId xmlns:r="http://schemas.openxmlformats.org/officeDocument/2006/relationships" id="273" r:id="Ree95738906d3497a"/>
    <p:sldId xmlns:r="http://schemas.openxmlformats.org/officeDocument/2006/relationships" id="274" r:id="R7bfdbca571844eb2"/>
    <p:sldId xmlns:r="http://schemas.openxmlformats.org/officeDocument/2006/relationships" id="275" r:id="R529ec382422241dc"/>
    <p:sldId xmlns:r="http://schemas.openxmlformats.org/officeDocument/2006/relationships" id="276" r:id="R76a2c2ec01fb4689"/>
    <p:sldId xmlns:r="http://schemas.openxmlformats.org/officeDocument/2006/relationships" id="277" r:id="R864ca6dd13304c77"/>
    <p:sldId xmlns:r="http://schemas.openxmlformats.org/officeDocument/2006/relationships" id="278" r:id="R815bf3b34781429e"/>
    <p:sldId xmlns:r="http://schemas.openxmlformats.org/officeDocument/2006/relationships" id="279" r:id="R8e48148bd91f4b86"/>
    <p:sldId xmlns:r="http://schemas.openxmlformats.org/officeDocument/2006/relationships" id="280" r:id="R2556e4f60c2e4ec0"/>
    <p:sldId xmlns:r="http://schemas.openxmlformats.org/officeDocument/2006/relationships" id="281" r:id="Red8ececa99d042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21fd16c2144f3" /><Relationship Type="http://schemas.openxmlformats.org/officeDocument/2006/relationships/slideMaster" Target="/ppt/slideMasters/slideMaster1.xml" Id="R69fe3c3643af42ce" /><Relationship Type="http://schemas.openxmlformats.org/officeDocument/2006/relationships/notesMaster" Target="/ppt/notesMasters/notesMaster1.xml" Id="R6c4961466458455a" /><Relationship Type="http://schemas.openxmlformats.org/officeDocument/2006/relationships/presProps" Target="/ppt/presProps.xml" Id="R49b0c2524d3449d1" /><Relationship Type="http://schemas.openxmlformats.org/officeDocument/2006/relationships/tableStyles" Target="/ppt/tableStyles.xml" Id="R09aedd64e4014914" /><Relationship Type="http://schemas.openxmlformats.org/officeDocument/2006/relationships/slide" Target="/ppt/slides/slide1.xml" Id="Rc7f70999804f4a6c" /><Relationship Type="http://schemas.openxmlformats.org/officeDocument/2006/relationships/slide" Target="/ppt/slides/slide2.xml" Id="R43722db321d04402" /><Relationship Type="http://schemas.openxmlformats.org/officeDocument/2006/relationships/slide" Target="/ppt/slides/slide3.xml" Id="R317e2997ded14a7a" /><Relationship Type="http://schemas.openxmlformats.org/officeDocument/2006/relationships/slide" Target="/ppt/slides/slide4.xml" Id="R3fa11d5768de40d6" /><Relationship Type="http://schemas.openxmlformats.org/officeDocument/2006/relationships/slide" Target="/ppt/slides/slide5.xml" Id="R953efca9602f4489" /><Relationship Type="http://schemas.openxmlformats.org/officeDocument/2006/relationships/slide" Target="/ppt/slides/slide6.xml" Id="R1b7a434892bb4830" /><Relationship Type="http://schemas.openxmlformats.org/officeDocument/2006/relationships/slide" Target="/ppt/slides/slide7.xml" Id="Rd1117eae1e3545d0" /><Relationship Type="http://schemas.openxmlformats.org/officeDocument/2006/relationships/slide" Target="/ppt/slides/slide8.xml" Id="R618a8f87bf524ff4" /><Relationship Type="http://schemas.openxmlformats.org/officeDocument/2006/relationships/slide" Target="/ppt/slides/slide9.xml" Id="Rfcd180e837974f97" /><Relationship Type="http://schemas.openxmlformats.org/officeDocument/2006/relationships/slide" Target="/ppt/slides/slide10.xml" Id="R601211c1e1cd490c" /><Relationship Type="http://schemas.openxmlformats.org/officeDocument/2006/relationships/slide" Target="/ppt/slides/slide11.xml" Id="R2f3f5d2d321f47c9" /><Relationship Type="http://schemas.openxmlformats.org/officeDocument/2006/relationships/slide" Target="/ppt/slides/slide12.xml" Id="Re0f3928bc7c54e6d" /><Relationship Type="http://schemas.openxmlformats.org/officeDocument/2006/relationships/slide" Target="/ppt/slides/slide13.xml" Id="Rde332b3d93274da9" /><Relationship Type="http://schemas.openxmlformats.org/officeDocument/2006/relationships/slide" Target="/ppt/slides/slide14.xml" Id="R475f536ed7fb4647" /><Relationship Type="http://schemas.openxmlformats.org/officeDocument/2006/relationships/slide" Target="/ppt/slides/slide15.xml" Id="R383d7799c058426b" /><Relationship Type="http://schemas.openxmlformats.org/officeDocument/2006/relationships/slide" Target="/ppt/slides/slide16.xml" Id="Rd03b14ea632645ed" /><Relationship Type="http://schemas.openxmlformats.org/officeDocument/2006/relationships/slide" Target="/ppt/slides/slide17.xml" Id="Rcc3daed254e34825" /><Relationship Type="http://schemas.openxmlformats.org/officeDocument/2006/relationships/slide" Target="/ppt/slides/slide18.xml" Id="Ree95738906d3497a" /><Relationship Type="http://schemas.openxmlformats.org/officeDocument/2006/relationships/slide" Target="/ppt/slides/slide19.xml" Id="R7bfdbca571844eb2" /><Relationship Type="http://schemas.openxmlformats.org/officeDocument/2006/relationships/slide" Target="/ppt/slides/slide20.xml" Id="R529ec382422241dc" /><Relationship Type="http://schemas.openxmlformats.org/officeDocument/2006/relationships/slide" Target="/ppt/slides/slide21.xml" Id="R76a2c2ec01fb4689" /><Relationship Type="http://schemas.openxmlformats.org/officeDocument/2006/relationships/slide" Target="/ppt/slides/slide22.xml" Id="R864ca6dd13304c77" /><Relationship Type="http://schemas.openxmlformats.org/officeDocument/2006/relationships/slide" Target="/ppt/slides/slide23.xml" Id="R815bf3b34781429e" /><Relationship Type="http://schemas.openxmlformats.org/officeDocument/2006/relationships/slide" Target="/ppt/slides/slide24.xml" Id="R8e48148bd91f4b86" /><Relationship Type="http://schemas.openxmlformats.org/officeDocument/2006/relationships/slide" Target="/ppt/slides/slide25.xml" Id="R2556e4f60c2e4ec0" /><Relationship Type="http://schemas.openxmlformats.org/officeDocument/2006/relationships/slide" Target="/ppt/slides/slide26.xml" Id="Red8ececa99d042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908cdf5b4d4e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f70d0630974b79" /><Relationship Type="http://schemas.openxmlformats.org/officeDocument/2006/relationships/notesMaster" Target="/ppt/notesMasters/notesMaster1.xml" Id="R9a5e01916aa641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f6b0af3ae4ffc" /><Relationship Type="http://schemas.openxmlformats.org/officeDocument/2006/relationships/notesMaster" Target="/ppt/notesMasters/notesMaster1.xml" Id="R067181d75b0c4b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f2f0b6bdb4c60" /><Relationship Type="http://schemas.openxmlformats.org/officeDocument/2006/relationships/notesMaster" Target="/ppt/notesMasters/notesMaster1.xml" Id="R19944deda09e48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13311f057d4cdc" /><Relationship Type="http://schemas.openxmlformats.org/officeDocument/2006/relationships/notesMaster" Target="/ppt/notesMasters/notesMaster1.xml" Id="Rd1d754e7d04c43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e21777847944d7" /><Relationship Type="http://schemas.openxmlformats.org/officeDocument/2006/relationships/notesMaster" Target="/ppt/notesMasters/notesMaster1.xml" Id="R1ea56a87b2df48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d61639423242c6" /><Relationship Type="http://schemas.openxmlformats.org/officeDocument/2006/relationships/notesMaster" Target="/ppt/notesMasters/notesMaster1.xml" Id="R3001e5f43d3442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040fad4aa344a6" /><Relationship Type="http://schemas.openxmlformats.org/officeDocument/2006/relationships/notesMaster" Target="/ppt/notesMasters/notesMaster1.xml" Id="Rfdc156ec332445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d46186356540e4" /><Relationship Type="http://schemas.openxmlformats.org/officeDocument/2006/relationships/notesMaster" Target="/ppt/notesMasters/notesMaster1.xml" Id="Raa4b0c5fd0ad40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bfd9ea78484875" /><Relationship Type="http://schemas.openxmlformats.org/officeDocument/2006/relationships/notesMaster" Target="/ppt/notesMasters/notesMaster1.xml" Id="R842a75a9eb874f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1968159c164828" /><Relationship Type="http://schemas.openxmlformats.org/officeDocument/2006/relationships/notesMaster" Target="/ppt/notesMasters/notesMaster1.xml" Id="R101a0c00b0264f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287418c644469a" /><Relationship Type="http://schemas.openxmlformats.org/officeDocument/2006/relationships/notesMaster" Target="/ppt/notesMasters/notesMaster1.xml" Id="R51f399ae647f44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66090f35054478" /><Relationship Type="http://schemas.openxmlformats.org/officeDocument/2006/relationships/notesMaster" Target="/ppt/notesMasters/notesMaster1.xml" Id="Ra2354ddd78bf4b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2382026ea44b8b" /><Relationship Type="http://schemas.openxmlformats.org/officeDocument/2006/relationships/notesMaster" Target="/ppt/notesMasters/notesMaster1.xml" Id="R17355e37dde741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1ca62dc9134631" /><Relationship Type="http://schemas.openxmlformats.org/officeDocument/2006/relationships/notesMaster" Target="/ppt/notesMasters/notesMaster1.xml" Id="R374b373b099843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cc141c9cd14465" /><Relationship Type="http://schemas.openxmlformats.org/officeDocument/2006/relationships/notesMaster" Target="/ppt/notesMasters/notesMaster1.xml" Id="R59ffd283d9c146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c720a76ad114996" /><Relationship Type="http://schemas.openxmlformats.org/officeDocument/2006/relationships/notesMaster" Target="/ppt/notesMasters/notesMaster1.xml" Id="R680d75c550f449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3ff180296c403f" /><Relationship Type="http://schemas.openxmlformats.org/officeDocument/2006/relationships/notesMaster" Target="/ppt/notesMasters/notesMaster1.xml" Id="R4daef17be9554db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6244e7028740d4" /><Relationship Type="http://schemas.openxmlformats.org/officeDocument/2006/relationships/notesMaster" Target="/ppt/notesMasters/notesMaster1.xml" Id="R9449a1a846474d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c2af7cf9bf4b10" /><Relationship Type="http://schemas.openxmlformats.org/officeDocument/2006/relationships/notesMaster" Target="/ppt/notesMasters/notesMaster1.xml" Id="Rbbd33046dcc54e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c7ea321552443f" /><Relationship Type="http://schemas.openxmlformats.org/officeDocument/2006/relationships/notesMaster" Target="/ppt/notesMasters/notesMaster1.xml" Id="Rd2100e73df5642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173500a83f4449" /><Relationship Type="http://schemas.openxmlformats.org/officeDocument/2006/relationships/notesMaster" Target="/ppt/notesMasters/notesMaster1.xml" Id="R53f492992c3e4f0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3c0fcb00b73467e" /><Relationship Type="http://schemas.openxmlformats.org/officeDocument/2006/relationships/notesMaster" Target="/ppt/notesMasters/notesMaster1.xml" Id="Rda59e02a0402404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ce6bad692c4ce7" /><Relationship Type="http://schemas.openxmlformats.org/officeDocument/2006/relationships/notesMaster" Target="/ppt/notesMasters/notesMaster1.xml" Id="R844c54a6161246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69d05cf67594925" /><Relationship Type="http://schemas.openxmlformats.org/officeDocument/2006/relationships/notesMaster" Target="/ppt/notesMasters/notesMaster1.xml" Id="R876242a3e6124c8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2f10e3949947d6" /><Relationship Type="http://schemas.openxmlformats.org/officeDocument/2006/relationships/notesMaster" Target="/ppt/notesMasters/notesMaster1.xml" Id="Rd2cfa7d533f144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c0c8ed4c59411b" /><Relationship Type="http://schemas.openxmlformats.org/officeDocument/2006/relationships/notesMaster" Target="/ppt/notesMasters/notesMaster1.xml" Id="R136fe79df303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Real application screenshot from automated local browser test. Displayed data and account names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Public systems: https://pgportal.gov.in/ and https://complaints.cmo.kerala.gov.in/cmoportal/login.htm?lang=en accessed 8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Real application screenshot from automated local browser test. Displayed data and account names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Real application screenshot from automated local browser test. Displayed data and account names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Real application screenshot from automated local browser test. Displayed data and account names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Classification methods: https://www.jmlr.org/papers/v12/pedregosa11a.html and https://nlp.stanford.edu/IR-book/html/htmledition/irbook.html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GIS reference: https://postgis.net/docs/reference.html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 Evidence: backend pytest 24 passed, frontend Vitest 7 passed, Playwright 2 passed; ml/evaluation/classification.json and auxiliary.json. Results use tiny synthetic datasets and have no field-validation implication.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one-district JANASEVA prototype. Source: project implementation and docs/ACADEMIC_REPORT.md. This slide has no claim of verified government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a4e8cd1a540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e6214e66141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c4eb891194e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9d2f4631e40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5ce952a8e46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fcc1c01d848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623A7B-2A48-4910-8FD2-D221E3E4A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E87C7B-05EC-49C0-A624-EAFC1D4D68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34A4BF-513D-40A4-A0B3-003F300D7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DAA472-4DAA-4CFB-B6E2-608D86EBD9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FE8D29-E31A-4D66-8BF4-2C4B8A8A54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AC0CAC-5AB7-4067-BFD0-1556C18DC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37EDD8-2FF2-4635-9008-1A7B3748BD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9EDDFE-5E3E-4CCE-80A5-4894DC035C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DF636-25F9-446A-9CDD-AC0BC337A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B476F9-7078-4B65-A783-7106B287B8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981ef24431470b" /><Relationship Type="http://schemas.openxmlformats.org/officeDocument/2006/relationships/slideLayout" Target="/ppt/slideLayouts/slideLayout1.xml" Id="R525ae644914d430f" /><Relationship Type="http://schemas.openxmlformats.org/officeDocument/2006/relationships/slideLayout" Target="/ppt/slideLayouts/slideLayout2.xml" Id="R6aa7495b779f48c3" /><Relationship Type="http://schemas.openxmlformats.org/officeDocument/2006/relationships/slideLayout" Target="/ppt/slideLayouts/slideLayout3.xml" Id="R94a6bc17711a432a" /><Relationship Type="http://schemas.openxmlformats.org/officeDocument/2006/relationships/slideLayout" Target="/ppt/slideLayouts/slideLayout4.xml" Id="R39adf4eb11104690" /><Relationship Type="http://schemas.openxmlformats.org/officeDocument/2006/relationships/slideLayout" Target="/ppt/slideLayouts/slideLayout5.xml" Id="R6412fb16ee8a462e" /><Relationship Type="http://schemas.openxmlformats.org/officeDocument/2006/relationships/slideLayout" Target="/ppt/slideLayouts/slideLayout6.xml" Id="R0bdede96015845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5ae644914d430f"/>
    <p:sldLayoutId xmlns:r="http://schemas.openxmlformats.org/officeDocument/2006/relationships" id="2147483650" r:id="R6aa7495b779f48c3"/>
    <p:sldLayoutId xmlns:r="http://schemas.openxmlformats.org/officeDocument/2006/relationships" id="2147483651" r:id="R94a6bc17711a432a"/>
    <p:sldLayoutId xmlns:r="http://schemas.openxmlformats.org/officeDocument/2006/relationships" id="2147483652" r:id="R39adf4eb11104690"/>
    <p:sldLayoutId xmlns:r="http://schemas.openxmlformats.org/officeDocument/2006/relationships" id="2147483653" r:id="R6412fb16ee8a462e"/>
    <p:sldLayoutId xmlns:r="http://schemas.openxmlformats.org/officeDocument/2006/relationships" id="2147483654" r:id="R0bdede96015845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484b0b00b4147" /><Relationship Type="http://schemas.openxmlformats.org/officeDocument/2006/relationships/notesSlide" Target="/ppt/notesSlides/notesSlide1.xml" Id="Rddcabae67a894a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1c80532f04acc" /><Relationship Type="http://schemas.openxmlformats.org/officeDocument/2006/relationships/notesSlide" Target="/ppt/notesSlides/notesSlide2.xml" Id="R7a3facb5b2a64f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338d1bf434643" /><Relationship Type="http://schemas.openxmlformats.org/officeDocument/2006/relationships/notesSlide" Target="/ppt/notesSlides/notesSlide3.xml" Id="R0816e82ba18a4d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9b9676a394685" /><Relationship Type="http://schemas.openxmlformats.org/officeDocument/2006/relationships/notesSlide" Target="/ppt/notesSlides/notesSlide4.xml" Id="R4162262a718f41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8f1c42f6ab4751" /><Relationship Type="http://schemas.openxmlformats.org/officeDocument/2006/relationships/notesSlide" Target="/ppt/notesSlides/notesSlide5.xml" Id="Rd0275a58da3142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05c75ae204091" /><Relationship Type="http://schemas.openxmlformats.org/officeDocument/2006/relationships/notesSlide" Target="/ppt/notesSlides/notesSlide6.xml" Id="R292178215c5a4c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2413628061426b" /><Relationship Type="http://schemas.openxmlformats.org/officeDocument/2006/relationships/notesSlide" Target="/ppt/notesSlides/notesSlide7.xml" Id="R613edf76388a41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ade885b1d4bde" /><Relationship Type="http://schemas.openxmlformats.org/officeDocument/2006/relationships/notesSlide" Target="/ppt/notesSlides/notesSlide8.xml" Id="R82fca341460d49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499d59a774f94" /><Relationship Type="http://schemas.openxmlformats.org/officeDocument/2006/relationships/notesSlide" Target="/ppt/notesSlides/notesSlide9.xml" Id="Ra3dafd23c80641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3dc72ebd34207" /><Relationship Type="http://schemas.openxmlformats.org/officeDocument/2006/relationships/image" Target="/ppt/media/image.png" Id="R3d1613769c7c4fd6" /><Relationship Type="http://schemas.openxmlformats.org/officeDocument/2006/relationships/notesSlide" Target="/ppt/notesSlides/notesSlide10.xml" Id="Refa6b90078aa4d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a743117714cbd" /><Relationship Type="http://schemas.openxmlformats.org/officeDocument/2006/relationships/image" Target="/ppt/media/image2.png" Id="Rab23a75e3062455f" /><Relationship Type="http://schemas.openxmlformats.org/officeDocument/2006/relationships/notesSlide" Target="/ppt/notesSlides/notesSlide11.xml" Id="Rc30ad703acab4c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68d93916d4137" /><Relationship Type="http://schemas.openxmlformats.org/officeDocument/2006/relationships/image" Target="/ppt/media/image3.png" Id="Rc836a4982e1f4685" /><Relationship Type="http://schemas.openxmlformats.org/officeDocument/2006/relationships/notesSlide" Target="/ppt/notesSlides/notesSlide12.xml" Id="Rb9233d2a78f24d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5780fc84ed4199" /><Relationship Type="http://schemas.openxmlformats.org/officeDocument/2006/relationships/notesSlide" Target="/ppt/notesSlides/notesSlide13.xml" Id="R1916ca1fc4e24f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b20763c334f9b" /><Relationship Type="http://schemas.openxmlformats.org/officeDocument/2006/relationships/notesSlide" Target="/ppt/notesSlides/notesSlide14.xml" Id="Rd9ec6d57c1f443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7202fd9714995" /><Relationship Type="http://schemas.openxmlformats.org/officeDocument/2006/relationships/notesSlide" Target="/ppt/notesSlides/notesSlide15.xml" Id="Rd554aa73e78b47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4c7d3e19d482f" /><Relationship Type="http://schemas.openxmlformats.org/officeDocument/2006/relationships/notesSlide" Target="/ppt/notesSlides/notesSlide16.xml" Id="R04bab0af70bb47e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658b6a8d941d0" /><Relationship Type="http://schemas.openxmlformats.org/officeDocument/2006/relationships/notesSlide" Target="/ppt/notesSlides/notesSlide17.xml" Id="R4dc23d22d66340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0391a9cc4641db" /><Relationship Type="http://schemas.openxmlformats.org/officeDocument/2006/relationships/notesSlide" Target="/ppt/notesSlides/notesSlide18.xml" Id="R882fd38e65ac4e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ad9b77c45491f" /><Relationship Type="http://schemas.openxmlformats.org/officeDocument/2006/relationships/notesSlide" Target="/ppt/notesSlides/notesSlide19.xml" Id="R4e6a3fb298394e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61e4dd13374211" /><Relationship Type="http://schemas.openxmlformats.org/officeDocument/2006/relationships/notesSlide" Target="/ppt/notesSlides/notesSlide20.xml" Id="R0417fdaf68d047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cc3e55ccf44e4" /><Relationship Type="http://schemas.openxmlformats.org/officeDocument/2006/relationships/notesSlide" Target="/ppt/notesSlides/notesSlide21.xml" Id="Rdf707e149b604c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8c09b35134f99" /><Relationship Type="http://schemas.openxmlformats.org/officeDocument/2006/relationships/notesSlide" Target="/ppt/notesSlides/notesSlide22.xml" Id="Re8db852c021147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9bb4e7bcc435f" /><Relationship Type="http://schemas.openxmlformats.org/officeDocument/2006/relationships/notesSlide" Target="/ppt/notesSlides/notesSlide23.xml" Id="Rb4eaa48127eb410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8c9a9457d4f80" /><Relationship Type="http://schemas.openxmlformats.org/officeDocument/2006/relationships/notesSlide" Target="/ppt/notesSlides/notesSlide24.xml" Id="R212b3b4287aa4a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3ded87e984ecc" /><Relationship Type="http://schemas.openxmlformats.org/officeDocument/2006/relationships/notesSlide" Target="/ppt/notesSlides/notesSlide25.xml" Id="Re9d68d5b375f439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b7b631af994634" /><Relationship Type="http://schemas.openxmlformats.org/officeDocument/2006/relationships/notesSlide" Target="/ppt/notesSlides/notesSlide26.xml" Id="R733c26a7285744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686B0-06B9-43A5-962E-11D0192B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JANASEVA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A8327-E443-4638-A187-3CA50F71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1019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E5F0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E5F0E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5F0E7"/>
                </a:solidFill>
                <a:latin typeface="Arial"/>
                <a:ea typeface="Arial"/>
                <a:cs typeface="Arial"/>
              </a:rPr>
              <a:t>AI-Powered Citizen Grievance Routing</a:t>
            </a:r>
          </a:p>
          <a:p xmlns:a="http://schemas.openxmlformats.org/drawingml/2006/main">
            <a:pPr>
              <a:defRPr sz="3000" b="0">
                <a:solidFill>
                  <a:srgbClr val="E5F0E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5F0E7"/>
                </a:solidFill>
                <a:latin typeface="Arial"/>
                <a:ea typeface="Arial"/>
                <a:cs typeface="Arial"/>
              </a:rPr>
              <a:t>and Accountability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E3BBD-537C-418B-A39F-7D3C26F1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CF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DCFC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DCFC3"/>
                </a:solidFill>
                <a:latin typeface="Arial"/>
                <a:ea typeface="Arial"/>
                <a:cs typeface="Arial"/>
              </a:rPr>
              <a:t>Academic prototype</a:t>
            </a:r>
          </a:p>
        </p:txBody>
      </p:sp>
    </p:spTree>
    <p:extLst>
      <p:ext uri="{BB962C8B-B14F-4D97-AF65-F5344CB8AC3E}">
        <p14:creationId xmlns:p14="http://schemas.microsoft.com/office/powerpoint/2010/main" val="1700701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18D5B-6CA2-44D2-8C48-677C25DC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Citizen grievance reporting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C44C9-9A0C-4A69-8109-61244C77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 citizen can describe a pothole, garbage or a failed streetlight.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Identifying the responsible office adds a separate administrative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JANASEVA records the issue once and makes its progress visible.</a:t>
            </a:r>
          </a:p>
        </p:txBody>
      </p:sp>
    </p:spTree>
    <p:extLst>
      <p:ext uri="{BB962C8B-B14F-4D97-AF65-F5344CB8AC3E}">
        <p14:creationId xmlns:p14="http://schemas.microsoft.com/office/powerpoint/2010/main" val="515731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950A-1D95-4C42-A5F9-791FBC22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Existing grievance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FD1D9-D9B9-47B1-A87F-6C7325C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CPGRAMS and Kerala CMO grievance services already support public complaint mechanisms.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JANASEVA explores a complementary orchestration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Official interoperability needs authorization and verified APIs.</a:t>
            </a:r>
          </a:p>
        </p:txBody>
      </p:sp>
    </p:spTree>
    <p:extLst>
      <p:ext uri="{BB962C8B-B14F-4D97-AF65-F5344CB8AC3E}">
        <p14:creationId xmlns:p14="http://schemas.microsoft.com/office/powerpoint/2010/main" val="203291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60B23-0C84-4602-B5CC-C4343363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Project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9A495-230B-4873-A53D-3B8975B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 complete case should preserve the complaint, its location, office actions and repair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Uncertain classification or geography should trigger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Accountability requires a traceable timeline and measurable deadlines.</a:t>
            </a:r>
          </a:p>
        </p:txBody>
      </p:sp>
    </p:spTree>
    <p:extLst>
      <p:ext uri="{BB962C8B-B14F-4D97-AF65-F5344CB8AC3E}">
        <p14:creationId xmlns:p14="http://schemas.microsoft.com/office/powerpoint/2010/main" val="609098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168F6-A9DD-4D04-99D2-0F2306CB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Proposed JANASEVA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66415-142D-406A-B742-090749A2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 citizen submits text, location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Assisted analysis works with GIS and trusted routing configuration.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Office actions, citizen confirmation and SLA events feed live analytics.</a:t>
            </a:r>
          </a:p>
        </p:txBody>
      </p:sp>
    </p:spTree>
    <p:extLst>
      <p:ext uri="{BB962C8B-B14F-4D97-AF65-F5344CB8AC3E}">
        <p14:creationId xmlns:p14="http://schemas.microsoft.com/office/powerpoint/2010/main" val="277623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6A013-94EB-4D55-BED9-D29AA038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11E93-21B9-45DD-8F43-8EB992A7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Demonstrate one excellent case workflow in a controlled district fixture.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Enforce ownership and office permissions in the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Measure the baseline and document uncertainty, data provenance and limitations.</a:t>
            </a:r>
          </a:p>
        </p:txBody>
      </p:sp>
    </p:spTree>
    <p:extLst>
      <p:ext uri="{BB962C8B-B14F-4D97-AF65-F5344CB8AC3E}">
        <p14:creationId xmlns:p14="http://schemas.microsoft.com/office/powerpoint/2010/main" val="7536668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A1D78-7DEB-4A6D-91E3-3E4E636E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Primary user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60547-18D8-404C-B68C-5A2265B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Citizen</a:t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Reports an issue, tracks updates and confirms resolution.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Office</a:t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Investigates permitted cases and records resolution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Admin</a:t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Configures responsibility, users, GIS and deadlines.</a:t>
            </a:r>
          </a:p>
        </p:txBody>
      </p:sp>
    </p:spTree>
    <p:extLst>
      <p:ext uri="{BB962C8B-B14F-4D97-AF65-F5344CB8AC3E}">
        <p14:creationId xmlns:p14="http://schemas.microsoft.com/office/powerpoint/2010/main" val="640778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4D982-757F-45B8-9CC2-55BA81B2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Case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FBDCF-77A1-4623-BDE9-4D71FAC3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Submission and assisted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Geographic lookup and configured office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Acknowledgement, investigation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Resolution, citizen confirmation and audit history</a:t>
            </a:r>
          </a:p>
        </p:txBody>
      </p:sp>
    </p:spTree>
    <p:extLst>
      <p:ext uri="{BB962C8B-B14F-4D97-AF65-F5344CB8AC3E}">
        <p14:creationId xmlns:p14="http://schemas.microsoft.com/office/powerpoint/2010/main" val="1299601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ACE40-66B5-4372-BC33-721ECF81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72239-375F-46DF-A825-B14B709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React and TypeScript client with Nginx 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FastAPI modular monolith and normalized PostgreSQL/PostGIS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Redis and Celery for periodic SLA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MinIO private evidence storage and optional monitoring</a:t>
            </a:r>
          </a:p>
        </p:txBody>
      </p:sp>
    </p:spTree>
    <p:extLst>
      <p:ext uri="{BB962C8B-B14F-4D97-AF65-F5344CB8AC3E}">
        <p14:creationId xmlns:p14="http://schemas.microsoft.com/office/powerpoint/2010/main" val="12870336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7834-000B-48BF-ABE0-861F156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Citizen portal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A80E7-15DA-4674-953C-7E394F890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613769c7c4fd6"/>
          <a:stretch xmlns:a="http://schemas.openxmlformats.org/drawingml/2006/main"/>
        </p:blipFill>
        <p:spPr>
          <a:xfrm xmlns:a="http://schemas.openxmlformats.org/drawingml/2006/main">
            <a:off x="1158875" y="1666875"/>
            <a:ext cx="5969000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AC445-4BBA-4834-97D6-0F385C37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Report without choosing a department.</a:t>
            </a:r>
          </a:p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Track the case timeline and notifications.</a:t>
            </a:r>
          </a:p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Confirm resolution or request reopening.</a:t>
            </a:r>
          </a:p>
        </p:txBody>
      </p:sp>
    </p:spTree>
    <p:extLst>
      <p:ext uri="{BB962C8B-B14F-4D97-AF65-F5344CB8AC3E}">
        <p14:creationId xmlns:p14="http://schemas.microsoft.com/office/powerpoint/2010/main" val="122862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DCAFF-148D-479D-89FE-C46F3968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Office portal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CF014-50FD-4556-8CD4-C763A42A1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3a75e3062455f"/>
          <a:stretch xmlns:a="http://schemas.openxmlformats.org/drawingml/2006/main"/>
        </p:blipFill>
        <p:spPr>
          <a:xfrm xmlns:a="http://schemas.openxmlformats.org/drawingml/2006/main">
            <a:off x="1158875" y="1666875"/>
            <a:ext cx="5969000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7722F-969B-469B-9BE1-40128774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Use the permitted case inbox.</a:t>
            </a:r>
          </a:p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Acknowledge, investigate and upload repair evidence.</a:t>
            </a:r>
          </a:p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Resolve with a reason or escalate.</a:t>
            </a:r>
          </a:p>
        </p:txBody>
      </p:sp>
    </p:spTree>
    <p:extLst>
      <p:ext uri="{BB962C8B-B14F-4D97-AF65-F5344CB8AC3E}">
        <p14:creationId xmlns:p14="http://schemas.microsoft.com/office/powerpoint/2010/main" val="12826275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BA5B7-CAD0-4125-BFA1-C3E84621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Admin portal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6BF0A-AF73-4CC5-AEB7-73649062B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6a4982e1f4685"/>
          <a:stretch xmlns:a="http://schemas.openxmlformats.org/drawingml/2006/main"/>
        </p:blipFill>
        <p:spPr>
          <a:xfrm xmlns:a="http://schemas.openxmlformats.org/drawingml/2006/main">
            <a:off x="1158875" y="1666875"/>
            <a:ext cx="5969000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4AF4A-88B1-4398-B503-1603844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Configure users, GIS, routing and SLA.</a:t>
            </a:r>
          </a:p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Inspect scoped operational analytics.</a:t>
            </a:r>
          </a:p>
          <a:p xmlns:a="http://schemas.openxmlformats.org/drawingml/2006/main">
            <a:pPr>
              <a:defRPr sz="2025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Review predictions and audit records.</a:t>
            </a:r>
          </a:p>
        </p:txBody>
      </p:sp>
    </p:spTree>
    <p:extLst>
      <p:ext uri="{BB962C8B-B14F-4D97-AF65-F5344CB8AC3E}">
        <p14:creationId xmlns:p14="http://schemas.microsoft.com/office/powerpoint/2010/main" val="19726209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C8466-DD4E-437D-BE3C-0D98B909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AI and ML subsystem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4EF9D-047D-4092-9C11-C6E967C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 real supervised text baseline handles classification.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An explainable policy estimates severity from reported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Related-report scoring combines category, time, distance and text similarity.</a:t>
            </a:r>
          </a:p>
        </p:txBody>
      </p:sp>
    </p:spTree>
    <p:extLst>
      <p:ext uri="{BB962C8B-B14F-4D97-AF65-F5344CB8AC3E}">
        <p14:creationId xmlns:p14="http://schemas.microsoft.com/office/powerpoint/2010/main" val="15722111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BB2D8-CDC0-44C0-84EA-7ABE0F62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Complaint 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F6FA-28BA-40B1-8AA2-A5A12FD9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TF-IDF word unigrams and bigrams with logistic regression.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84 synthetic English training examples and 24 held-out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Model and dataset versions accompany stored confidence. Predictions below 0.4 require review.</a:t>
            </a:r>
          </a:p>
        </p:txBody>
      </p:sp>
    </p:spTree>
    <p:extLst>
      <p:ext uri="{BB962C8B-B14F-4D97-AF65-F5344CB8AC3E}">
        <p14:creationId xmlns:p14="http://schemas.microsoft.com/office/powerpoint/2010/main" val="814477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ADAC0-4479-4801-9938-791E1648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Explainable severity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D051C-9A1C-4352-8C18-BD19ADB7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Reported damage contributes up to 30 points. Safety terms contribute 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Sensitive locations, related reports and traffic contribute additional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The UI exposes every factor. This prototype does not infer damage from images.</a:t>
            </a:r>
          </a:p>
        </p:txBody>
      </p:sp>
    </p:spTree>
    <p:extLst>
      <p:ext uri="{BB962C8B-B14F-4D97-AF65-F5344CB8AC3E}">
        <p14:creationId xmlns:p14="http://schemas.microsoft.com/office/powerpoint/2010/main" val="19876114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A8AFA-599D-4C91-8068-F1857D90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Related incident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F83C6-1FAA-4A4E-BCC8-77F3D4E9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Same-category reports within 150 metres and 30 days become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TF-IDF cosine similarity and proximity produce a heuristic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Clusters retain each citizen report. The score is not a calibrated probability.</a:t>
            </a:r>
          </a:p>
        </p:txBody>
      </p:sp>
    </p:spTree>
    <p:extLst>
      <p:ext uri="{BB962C8B-B14F-4D97-AF65-F5344CB8AC3E}">
        <p14:creationId xmlns:p14="http://schemas.microsoft.com/office/powerpoint/2010/main" val="18922789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0A5DB-8AAE-45F4-8BDF-8799794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Geographic jurisdiction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89A49-BD0C-477C-8E5B-B9971BA6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Case points and ward MultiPolygons use WGS84 coordinates.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PostGIS ST_Covers finds the configured 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Bundled boundaries are synthetic. Production mode excludes unverified data.</a:t>
            </a:r>
          </a:p>
        </p:txBody>
      </p:sp>
    </p:spTree>
    <p:extLst>
      <p:ext uri="{BB962C8B-B14F-4D97-AF65-F5344CB8AC3E}">
        <p14:creationId xmlns:p14="http://schemas.microsoft.com/office/powerpoint/2010/main" val="7386320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0695-768A-4524-BA7F-C3E04AA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Configured responsibility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BFB8C-CDFD-419B-8378-FEEC91A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Routing queries category and ward against active trusted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ML classification cannot determine legal responsibility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Absent or uncertain configuration creates ROUTING_REVIEW_REQUIRED.</a:t>
            </a:r>
          </a:p>
        </p:txBody>
      </p:sp>
    </p:spTree>
    <p:extLst>
      <p:ext uri="{BB962C8B-B14F-4D97-AF65-F5344CB8AC3E}">
        <p14:creationId xmlns:p14="http://schemas.microsoft.com/office/powerpoint/2010/main" val="1611749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D0704-83C5-4A74-82FE-6BD29EC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SLA and escalation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CB9F4-9685-4FA8-AE52-5E59937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Category/severity policies establish warning times and deadlines.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 periodic task notifies users and records overdue escalation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Continued breaches advance through configured parent offices. All seeded SLA values are prototype policies.</a:t>
            </a:r>
          </a:p>
        </p:txBody>
      </p:sp>
    </p:spTree>
    <p:extLst>
      <p:ext uri="{BB962C8B-B14F-4D97-AF65-F5344CB8AC3E}">
        <p14:creationId xmlns:p14="http://schemas.microsoft.com/office/powerpoint/2010/main" val="1968625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D0B6-B71F-4E9B-B632-8CFB52C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A2111-0E9F-4D1B-B743-1FCB981E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Internal UUIDs remain separate from human-readable public case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Foreign keys connect identity, offices, geography and complaint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Evidence metadata, predictions, SLA instances, events and feedback remain normalized.</a:t>
            </a:r>
          </a:p>
        </p:txBody>
      </p:sp>
    </p:spTree>
    <p:extLst>
      <p:ext uri="{BB962C8B-B14F-4D97-AF65-F5344CB8AC3E}">
        <p14:creationId xmlns:p14="http://schemas.microsoft.com/office/powerpoint/2010/main" val="16620871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7362F-E0BB-4368-B929-78364A83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Security and privacy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BF225-D0C5-4125-A987-AED1E159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Argon2 passwords and expiring JWT 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Backend role, ownership and office-scope checks on protected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Content-validated private uploads, rate limits and immutable audit/event triggers. Synthetic identities only in the demo.</a:t>
            </a:r>
          </a:p>
        </p:txBody>
      </p:sp>
    </p:spTree>
    <p:extLst>
      <p:ext uri="{BB962C8B-B14F-4D97-AF65-F5344CB8AC3E}">
        <p14:creationId xmlns:p14="http://schemas.microsoft.com/office/powerpoint/2010/main" val="9625593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7D85F-7EF5-4CD2-8310-5B034A06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Measured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38E3D-B0D5-4AEC-95C3-91F66A8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24 backend tests and 7 frontend tests passed.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Both browser tests passed, including the complete resolution workflow and mobile form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Classification accuracy was 95.83% on 24 synthetic test examples. Duplicate recall was 0.4 on eight synthetic pairs.</a:t>
            </a:r>
          </a:p>
        </p:txBody>
      </p:sp>
    </p:spTree>
    <p:extLst>
      <p:ext uri="{BB962C8B-B14F-4D97-AF65-F5344CB8AC3E}">
        <p14:creationId xmlns:p14="http://schemas.microsoft.com/office/powerpoint/2010/main" val="3890215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460AF-A8CE-4511-BD3C-DA617E6A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Known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1546A-A83E-4C61-8089-865B441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Small English corpus and synthetic geographic responsibility fixtures.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No official government integration, Malayalam model or image 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Live Docker infrastructure and SMTP need acceptance tests on the deployment host. No operational improvement claim follows from these tests.</a:t>
            </a:r>
          </a:p>
        </p:txBody>
      </p:sp>
    </p:spTree>
    <p:extLst>
      <p:ext uri="{BB962C8B-B14F-4D97-AF65-F5344CB8AC3E}">
        <p14:creationId xmlns:p14="http://schemas.microsoft.com/office/powerpoint/2010/main" val="2942032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27BED-4BFC-4CA6-BF77-B29EBD68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BA3C2-5F9B-4DC3-8420-E90D2E7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Authorized boundary and responsibility datasets.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Broader multilingual evaluation, calibrated confidence and reviewed clustering.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Multilevel escalation policies, notification delivery and official adapters after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998523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9E7CA-7DB5-4761-8B56-C9B9B0E0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Project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0C3B4-017A-4A57-8032-6AD6A49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JANASEVA demonstrates a connected academic complaint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Its source, test cases and model metrics support reproduction and inspection.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Official data, infrastructure acceptance and field evaluation are required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3342210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DC1A0-9056-41DA-B1F3-2CAD71A4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D35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5F576-EE11-4A3B-94F7-FDCB66D7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3822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Citizen reports a pothole at demo coordinates 9.965, 76.30.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Office acknowledges, starts work and uploads repair evidence before resolution.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9483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483D"/>
                </a:solidFill>
                <a:latin typeface="Arial"/>
                <a:ea typeface="Arial"/>
                <a:cs typeface="Arial"/>
              </a:rPr>
              <a:t>Citizen confirms with feedback. Admin inspects the case, analytics and audit history.</a:t>
            </a:r>
          </a:p>
        </p:txBody>
      </p:sp>
    </p:spTree>
    <p:extLst>
      <p:ext uri="{BB962C8B-B14F-4D97-AF65-F5344CB8AC3E}">
        <p14:creationId xmlns:p14="http://schemas.microsoft.com/office/powerpoint/2010/main" val="1448200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2026-10-08T15:58:49.6760000Z</dcterms:created>
  <dcterms:modified xsi:type="dcterms:W3CDTF">2026-10-08T15:58:49.6760000Z</dcterms:modified>
</coreProperties>
</file>